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70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</p:sldIdLst>
  <p:sldSz cx="18288000" cy="10287000"/>
  <p:notesSz cx="6858000" cy="9144000"/>
  <p:embeddedFontLst>
    <p:embeddedFont>
      <p:font typeface="Nunito" pitchFamily="2" charset="0"/>
      <p:regular r:id="rId15"/>
      <p:bold r:id="rId16"/>
    </p:embeddedFont>
    <p:embeddedFont>
      <p:font typeface="Proxima Nova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DA2FBA-8544-4E5D-809B-D485C222697F}" v="6" dt="2026-03-09T04:26:47.5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889" autoAdjust="0"/>
    <p:restoredTop sz="94622" autoAdjust="0"/>
  </p:normalViewPr>
  <p:slideViewPr>
    <p:cSldViewPr>
      <p:cViewPr varScale="1">
        <p:scale>
          <a:sx n="52" d="100"/>
          <a:sy n="52" d="100"/>
        </p:scale>
        <p:origin x="1205" y="-6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u J" userId="0cc9a4f2421c2236" providerId="LiveId" clId="{35886FC0-632C-44C5-81A4-E95713EF8B5E}"/>
    <pc:docChg chg="undo custSel addSld delSld modSld sldOrd">
      <pc:chgData name="Ashu J" userId="0cc9a4f2421c2236" providerId="LiveId" clId="{35886FC0-632C-44C5-81A4-E95713EF8B5E}" dt="2026-03-05T02:37:59.006" v="1823" actId="20577"/>
      <pc:docMkLst>
        <pc:docMk/>
      </pc:docMkLst>
      <pc:sldChg chg="modSp mod">
        <pc:chgData name="Ashu J" userId="0cc9a4f2421c2236" providerId="LiveId" clId="{35886FC0-632C-44C5-81A4-E95713EF8B5E}" dt="2026-03-05T01:08:12.138" v="616" actId="20577"/>
        <pc:sldMkLst>
          <pc:docMk/>
          <pc:sldMk cId="0" sldId="256"/>
        </pc:sldMkLst>
        <pc:spChg chg="mod">
          <ac:chgData name="Ashu J" userId="0cc9a4f2421c2236" providerId="LiveId" clId="{35886FC0-632C-44C5-81A4-E95713EF8B5E}" dt="2026-03-05T01:08:12.138" v="616" actId="20577"/>
          <ac:spMkLst>
            <pc:docMk/>
            <pc:sldMk cId="0" sldId="256"/>
            <ac:spMk id="12" creationId="{00000000-0000-0000-0000-000000000000}"/>
          </ac:spMkLst>
        </pc:spChg>
      </pc:sldChg>
      <pc:sldChg chg="modSp mod">
        <pc:chgData name="Ashu J" userId="0cc9a4f2421c2236" providerId="LiveId" clId="{35886FC0-632C-44C5-81A4-E95713EF8B5E}" dt="2026-03-05T02:16:13.453" v="1438" actId="113"/>
        <pc:sldMkLst>
          <pc:docMk/>
          <pc:sldMk cId="0" sldId="257"/>
        </pc:sldMkLst>
        <pc:spChg chg="mod">
          <ac:chgData name="Ashu J" userId="0cc9a4f2421c2236" providerId="LiveId" clId="{35886FC0-632C-44C5-81A4-E95713EF8B5E}" dt="2026-03-05T02:15:59.522" v="1436" actId="14100"/>
          <ac:spMkLst>
            <pc:docMk/>
            <pc:sldMk cId="0" sldId="257"/>
            <ac:spMk id="14" creationId="{00000000-0000-0000-0000-000000000000}"/>
          </ac:spMkLst>
        </pc:spChg>
        <pc:spChg chg="mod">
          <ac:chgData name="Ashu J" userId="0cc9a4f2421c2236" providerId="LiveId" clId="{35886FC0-632C-44C5-81A4-E95713EF8B5E}" dt="2026-03-05T01:34:17.788" v="991" actId="20577"/>
          <ac:spMkLst>
            <pc:docMk/>
            <pc:sldMk cId="0" sldId="257"/>
            <ac:spMk id="15" creationId="{00000000-0000-0000-0000-000000000000}"/>
          </ac:spMkLst>
        </pc:spChg>
        <pc:spChg chg="mod">
          <ac:chgData name="Ashu J" userId="0cc9a4f2421c2236" providerId="LiveId" clId="{35886FC0-632C-44C5-81A4-E95713EF8B5E}" dt="2026-03-05T02:16:13.453" v="1438" actId="113"/>
          <ac:spMkLst>
            <pc:docMk/>
            <pc:sldMk cId="0" sldId="257"/>
            <ac:spMk id="16" creationId="{00000000-0000-0000-0000-000000000000}"/>
          </ac:spMkLst>
        </pc:spChg>
      </pc:sldChg>
      <pc:sldChg chg="modSp mod">
        <pc:chgData name="Ashu J" userId="0cc9a4f2421c2236" providerId="LiveId" clId="{35886FC0-632C-44C5-81A4-E95713EF8B5E}" dt="2026-03-05T02:37:59.006" v="1823" actId="20577"/>
        <pc:sldMkLst>
          <pc:docMk/>
          <pc:sldMk cId="0" sldId="259"/>
        </pc:sldMkLst>
        <pc:spChg chg="mod">
          <ac:chgData name="Ashu J" userId="0cc9a4f2421c2236" providerId="LiveId" clId="{35886FC0-632C-44C5-81A4-E95713EF8B5E}" dt="2026-02-26T01:48:15.225" v="22" actId="20577"/>
          <ac:spMkLst>
            <pc:docMk/>
            <pc:sldMk cId="0" sldId="259"/>
            <ac:spMk id="15" creationId="{00000000-0000-0000-0000-000000000000}"/>
          </ac:spMkLst>
        </pc:spChg>
        <pc:spChg chg="mod">
          <ac:chgData name="Ashu J" userId="0cc9a4f2421c2236" providerId="LiveId" clId="{35886FC0-632C-44C5-81A4-E95713EF8B5E}" dt="2026-03-05T02:37:59.006" v="1823" actId="20577"/>
          <ac:spMkLst>
            <pc:docMk/>
            <pc:sldMk cId="0" sldId="259"/>
            <ac:spMk id="16" creationId="{00000000-0000-0000-0000-000000000000}"/>
          </ac:spMkLst>
        </pc:spChg>
      </pc:sldChg>
      <pc:sldChg chg="delSp modSp mod">
        <pc:chgData name="Ashu J" userId="0cc9a4f2421c2236" providerId="LiveId" clId="{35886FC0-632C-44C5-81A4-E95713EF8B5E}" dt="2026-03-05T02:17:59.042" v="1529" actId="20577"/>
        <pc:sldMkLst>
          <pc:docMk/>
          <pc:sldMk cId="0" sldId="260"/>
        </pc:sldMkLst>
        <pc:spChg chg="mod">
          <ac:chgData name="Ashu J" userId="0cc9a4f2421c2236" providerId="LiveId" clId="{35886FC0-632C-44C5-81A4-E95713EF8B5E}" dt="2026-03-05T02:17:59.042" v="1529" actId="20577"/>
          <ac:spMkLst>
            <pc:docMk/>
            <pc:sldMk cId="0" sldId="260"/>
            <ac:spMk id="16" creationId="{00000000-0000-0000-0000-000000000000}"/>
          </ac:spMkLst>
        </pc:spChg>
      </pc:sldChg>
      <pc:sldChg chg="modSp mod">
        <pc:chgData name="Ashu J" userId="0cc9a4f2421c2236" providerId="LiveId" clId="{35886FC0-632C-44C5-81A4-E95713EF8B5E}" dt="2026-02-26T01:48:23.962" v="30" actId="20577"/>
        <pc:sldMkLst>
          <pc:docMk/>
          <pc:sldMk cId="0" sldId="261"/>
        </pc:sldMkLst>
        <pc:spChg chg="mod">
          <ac:chgData name="Ashu J" userId="0cc9a4f2421c2236" providerId="LiveId" clId="{35886FC0-632C-44C5-81A4-E95713EF8B5E}" dt="2026-02-26T01:48:23.962" v="30" actId="20577"/>
          <ac:spMkLst>
            <pc:docMk/>
            <pc:sldMk cId="0" sldId="261"/>
            <ac:spMk id="14" creationId="{00000000-0000-0000-0000-000000000000}"/>
          </ac:spMkLst>
        </pc:spChg>
      </pc:sldChg>
      <pc:sldChg chg="modSp mod">
        <pc:chgData name="Ashu J" userId="0cc9a4f2421c2236" providerId="LiveId" clId="{35886FC0-632C-44C5-81A4-E95713EF8B5E}" dt="2026-03-05T01:40:09.792" v="1178" actId="20577"/>
        <pc:sldMkLst>
          <pc:docMk/>
          <pc:sldMk cId="0" sldId="262"/>
        </pc:sldMkLst>
        <pc:spChg chg="mod">
          <ac:chgData name="Ashu J" userId="0cc9a4f2421c2236" providerId="LiveId" clId="{35886FC0-632C-44C5-81A4-E95713EF8B5E}" dt="2026-02-26T01:48:32.052" v="38" actId="20577"/>
          <ac:spMkLst>
            <pc:docMk/>
            <pc:sldMk cId="0" sldId="262"/>
            <ac:spMk id="15" creationId="{00000000-0000-0000-0000-000000000000}"/>
          </ac:spMkLst>
        </pc:spChg>
        <pc:spChg chg="mod">
          <ac:chgData name="Ashu J" userId="0cc9a4f2421c2236" providerId="LiveId" clId="{35886FC0-632C-44C5-81A4-E95713EF8B5E}" dt="2026-03-05T01:40:09.792" v="1178" actId="20577"/>
          <ac:spMkLst>
            <pc:docMk/>
            <pc:sldMk cId="0" sldId="262"/>
            <ac:spMk id="16" creationId="{00000000-0000-0000-0000-000000000000}"/>
          </ac:spMkLst>
        </pc:spChg>
      </pc:sldChg>
      <pc:sldChg chg="modSp mod">
        <pc:chgData name="Ashu J" userId="0cc9a4f2421c2236" providerId="LiveId" clId="{35886FC0-632C-44C5-81A4-E95713EF8B5E}" dt="2026-03-05T02:21:27.781" v="1722" actId="20577"/>
        <pc:sldMkLst>
          <pc:docMk/>
          <pc:sldMk cId="0" sldId="263"/>
        </pc:sldMkLst>
        <pc:spChg chg="mod">
          <ac:chgData name="Ashu J" userId="0cc9a4f2421c2236" providerId="LiveId" clId="{35886FC0-632C-44C5-81A4-E95713EF8B5E}" dt="2026-03-05T02:20:48.358" v="1655" actId="14100"/>
          <ac:spMkLst>
            <pc:docMk/>
            <pc:sldMk cId="0" sldId="263"/>
            <ac:spMk id="14" creationId="{00000000-0000-0000-0000-000000000000}"/>
          </ac:spMkLst>
        </pc:spChg>
        <pc:spChg chg="mod">
          <ac:chgData name="Ashu J" userId="0cc9a4f2421c2236" providerId="LiveId" clId="{35886FC0-632C-44C5-81A4-E95713EF8B5E}" dt="2026-02-26T01:48:43.583" v="49" actId="20577"/>
          <ac:spMkLst>
            <pc:docMk/>
            <pc:sldMk cId="0" sldId="263"/>
            <ac:spMk id="15" creationId="{00000000-0000-0000-0000-000000000000}"/>
          </ac:spMkLst>
        </pc:spChg>
        <pc:spChg chg="mod">
          <ac:chgData name="Ashu J" userId="0cc9a4f2421c2236" providerId="LiveId" clId="{35886FC0-632C-44C5-81A4-E95713EF8B5E}" dt="2026-03-05T02:21:27.781" v="1722" actId="20577"/>
          <ac:spMkLst>
            <pc:docMk/>
            <pc:sldMk cId="0" sldId="263"/>
            <ac:spMk id="16" creationId="{00000000-0000-0000-0000-000000000000}"/>
          </ac:spMkLst>
        </pc:spChg>
      </pc:sldChg>
      <pc:sldChg chg="modSp mod">
        <pc:chgData name="Ashu J" userId="0cc9a4f2421c2236" providerId="LiveId" clId="{35886FC0-632C-44C5-81A4-E95713EF8B5E}" dt="2026-03-05T01:59:28.873" v="1263" actId="20577"/>
        <pc:sldMkLst>
          <pc:docMk/>
          <pc:sldMk cId="0" sldId="265"/>
        </pc:sldMkLst>
        <pc:spChg chg="mod">
          <ac:chgData name="Ashu J" userId="0cc9a4f2421c2236" providerId="LiveId" clId="{35886FC0-632C-44C5-81A4-E95713EF8B5E}" dt="2026-02-26T01:48:54.451" v="57" actId="20577"/>
          <ac:spMkLst>
            <pc:docMk/>
            <pc:sldMk cId="0" sldId="265"/>
            <ac:spMk id="15" creationId="{00000000-0000-0000-0000-000000000000}"/>
          </ac:spMkLst>
        </pc:spChg>
        <pc:spChg chg="mod">
          <ac:chgData name="Ashu J" userId="0cc9a4f2421c2236" providerId="LiveId" clId="{35886FC0-632C-44C5-81A4-E95713EF8B5E}" dt="2026-03-05T01:59:28.873" v="1263" actId="20577"/>
          <ac:spMkLst>
            <pc:docMk/>
            <pc:sldMk cId="0" sldId="265"/>
            <ac:spMk id="16" creationId="{00000000-0000-0000-0000-000000000000}"/>
          </ac:spMkLst>
        </pc:spChg>
      </pc:sldChg>
      <pc:sldChg chg="modSp mod ord">
        <pc:chgData name="Ashu J" userId="0cc9a4f2421c2236" providerId="LiveId" clId="{35886FC0-632C-44C5-81A4-E95713EF8B5E}" dt="2026-03-05T02:32:03" v="1821" actId="20577"/>
        <pc:sldMkLst>
          <pc:docMk/>
          <pc:sldMk cId="0" sldId="266"/>
        </pc:sldMkLst>
        <pc:spChg chg="mod">
          <ac:chgData name="Ashu J" userId="0cc9a4f2421c2236" providerId="LiveId" clId="{35886FC0-632C-44C5-81A4-E95713EF8B5E}" dt="2026-02-26T01:49:02.445" v="66" actId="20577"/>
          <ac:spMkLst>
            <pc:docMk/>
            <pc:sldMk cId="0" sldId="266"/>
            <ac:spMk id="15" creationId="{00000000-0000-0000-0000-000000000000}"/>
          </ac:spMkLst>
        </pc:spChg>
        <pc:spChg chg="mod">
          <ac:chgData name="Ashu J" userId="0cc9a4f2421c2236" providerId="LiveId" clId="{35886FC0-632C-44C5-81A4-E95713EF8B5E}" dt="2026-03-05T02:32:03" v="1821" actId="20577"/>
          <ac:spMkLst>
            <pc:docMk/>
            <pc:sldMk cId="0" sldId="266"/>
            <ac:spMk id="16" creationId="{00000000-0000-0000-0000-000000000000}"/>
          </ac:spMkLst>
        </pc:spChg>
      </pc:sldChg>
      <pc:sldChg chg="modSp mod ord">
        <pc:chgData name="Ashu J" userId="0cc9a4f2421c2236" providerId="LiveId" clId="{35886FC0-632C-44C5-81A4-E95713EF8B5E}" dt="2026-03-05T02:11:30.761" v="1397" actId="255"/>
        <pc:sldMkLst>
          <pc:docMk/>
          <pc:sldMk cId="0" sldId="267"/>
        </pc:sldMkLst>
        <pc:spChg chg="mod">
          <ac:chgData name="Ashu J" userId="0cc9a4f2421c2236" providerId="LiveId" clId="{35886FC0-632C-44C5-81A4-E95713EF8B5E}" dt="2026-03-05T02:11:30.761" v="1397" actId="255"/>
          <ac:spMkLst>
            <pc:docMk/>
            <pc:sldMk cId="0" sldId="267"/>
            <ac:spMk id="5" creationId="{00000000-0000-0000-0000-000000000000}"/>
          </ac:spMkLst>
        </pc:spChg>
      </pc:sldChg>
      <pc:sldChg chg="modSp mod">
        <pc:chgData name="Ashu J" userId="0cc9a4f2421c2236" providerId="LiveId" clId="{35886FC0-632C-44C5-81A4-E95713EF8B5E}" dt="2026-03-05T01:32:22.846" v="952" actId="20577"/>
        <pc:sldMkLst>
          <pc:docMk/>
          <pc:sldMk cId="0" sldId="268"/>
        </pc:sldMkLst>
        <pc:spChg chg="mod">
          <ac:chgData name="Ashu J" userId="0cc9a4f2421c2236" providerId="LiveId" clId="{35886FC0-632C-44C5-81A4-E95713EF8B5E}" dt="2026-03-05T01:32:22.846" v="952" actId="20577"/>
          <ac:spMkLst>
            <pc:docMk/>
            <pc:sldMk cId="0" sldId="268"/>
            <ac:spMk id="15" creationId="{00000000-0000-0000-0000-000000000000}"/>
          </ac:spMkLst>
        </pc:spChg>
      </pc:sldChg>
      <pc:sldChg chg="modSp add mod ord">
        <pc:chgData name="Ashu J" userId="0cc9a4f2421c2236" providerId="LiveId" clId="{35886FC0-632C-44C5-81A4-E95713EF8B5E}" dt="2026-03-05T01:48:51.274" v="1243" actId="20577"/>
        <pc:sldMkLst>
          <pc:docMk/>
          <pc:sldMk cId="3451677977" sldId="270"/>
        </pc:sldMkLst>
        <pc:spChg chg="mod">
          <ac:chgData name="Ashu J" userId="0cc9a4f2421c2236" providerId="LiveId" clId="{35886FC0-632C-44C5-81A4-E95713EF8B5E}" dt="2026-03-05T01:48:51.274" v="1243" actId="20577"/>
          <ac:spMkLst>
            <pc:docMk/>
            <pc:sldMk cId="3451677977" sldId="270"/>
            <ac:spMk id="16" creationId="{CBF00DFF-FCAA-06D8-FFD6-0610EF5CF84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195961" y="5935345"/>
            <a:ext cx="8126677" cy="8126677"/>
          </a:xfrm>
          <a:custGeom>
            <a:avLst/>
            <a:gdLst/>
            <a:ahLst/>
            <a:cxnLst/>
            <a:rect l="l" t="t" r="r" b="b"/>
            <a:pathLst>
              <a:path w="8126677" h="8126677">
                <a:moveTo>
                  <a:pt x="0" y="0"/>
                </a:moveTo>
                <a:lnTo>
                  <a:pt x="8126678" y="0"/>
                </a:lnTo>
                <a:lnTo>
                  <a:pt x="8126678" y="8126677"/>
                </a:lnTo>
                <a:lnTo>
                  <a:pt x="0" y="8126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350137" y="-174299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994970" y="-1387826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3897411" y="6636795"/>
            <a:ext cx="6723778" cy="6723778"/>
          </a:xfrm>
          <a:custGeom>
            <a:avLst/>
            <a:gdLst/>
            <a:ahLst/>
            <a:cxnLst/>
            <a:rect l="l" t="t" r="r" b="b"/>
            <a:pathLst>
              <a:path w="6723778" h="6723778">
                <a:moveTo>
                  <a:pt x="0" y="0"/>
                </a:moveTo>
                <a:lnTo>
                  <a:pt x="6723778" y="0"/>
                </a:lnTo>
                <a:lnTo>
                  <a:pt x="6723778" y="6723778"/>
                </a:lnTo>
                <a:lnTo>
                  <a:pt x="0" y="6723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4876906" y="7616290"/>
            <a:ext cx="4764788" cy="4764788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499020" y="-891876"/>
            <a:ext cx="2412567" cy="2412567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3577201"/>
            <a:ext cx="16230600" cy="3509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EQUITY TRADING USING DEEP REINFORCEMENT LEARNING</a:t>
            </a:r>
          </a:p>
          <a:p>
            <a:pPr algn="ctr">
              <a:lnSpc>
                <a:spcPts val="7000"/>
              </a:lnSpc>
            </a:pPr>
            <a:endParaRPr lang="en-US" sz="5000" b="1" dirty="0">
              <a:solidFill>
                <a:srgbClr val="000000"/>
              </a:solidFill>
              <a:latin typeface="Proxima Nova Bold"/>
              <a:ea typeface="Proxima Nova Bold"/>
              <a:cs typeface="Proxima Nova Bold"/>
              <a:sym typeface="Proxima Nova Bold"/>
            </a:endParaRPr>
          </a:p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Author : Ashok Jana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57400" y="-12589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702233" y="-903796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230600" y="72009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6585767" y="7556067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2319137" y="9258300"/>
            <a:ext cx="3911463" cy="391146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998733" y="7969033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-1289267" y="-490830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2129385" y="-2859528"/>
            <a:ext cx="3911463" cy="3911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1430000" y="3664787"/>
            <a:ext cx="5963942" cy="4125661"/>
          </a:xfrm>
          <a:custGeom>
            <a:avLst/>
            <a:gdLst/>
            <a:ahLst/>
            <a:cxnLst/>
            <a:rect l="l" t="t" r="r" b="b"/>
            <a:pathLst>
              <a:path w="7953082" h="4125661">
                <a:moveTo>
                  <a:pt x="0" y="0"/>
                </a:moveTo>
                <a:lnTo>
                  <a:pt x="7953082" y="0"/>
                </a:lnTo>
                <a:lnTo>
                  <a:pt x="7953082" y="4125661"/>
                </a:lnTo>
                <a:lnTo>
                  <a:pt x="0" y="41256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4870599" y="1268554"/>
            <a:ext cx="8546802" cy="1142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Introduction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85801" y="3617162"/>
            <a:ext cx="7622646" cy="78675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698" lvl="1" indent="-323849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Stock markets go up, down, and sometimes crash.</a:t>
            </a:r>
          </a:p>
          <a:p>
            <a:pPr marL="647698" lvl="1" indent="-323849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Most people panic during crashes.</a:t>
            </a:r>
          </a:p>
          <a:p>
            <a:pPr marL="647698" lvl="1" indent="-323849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We wanted an intelligent system that stays calm and adapts.</a:t>
            </a:r>
          </a:p>
          <a:p>
            <a:pPr marL="647698" lvl="1" indent="-323849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The focus was smart decision-making, not guessing.</a:t>
            </a:r>
          </a:p>
          <a:p>
            <a:pPr marL="647698" lvl="1" indent="-323849" algn="l">
              <a:lnSpc>
                <a:spcPts val="4199"/>
              </a:lnSpc>
              <a:buFont typeface="Arial"/>
              <a:buChar char="•"/>
            </a:pPr>
            <a:endParaRPr lang="en-US" sz="2999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ctr">
              <a:lnSpc>
                <a:spcPts val="3919"/>
              </a:lnSpc>
            </a:pPr>
            <a:r>
              <a:rPr lang="en-US" sz="2999" b="1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Problem Statement </a:t>
            </a:r>
            <a:r>
              <a:rPr lang="en-US" sz="2999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lang="en-US" sz="36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How can  automated trading agent learn to adopt different  strategy across different market conditions </a:t>
            </a:r>
          </a:p>
          <a:p>
            <a:pPr marL="302259" lvl="1" algn="just">
              <a:lnSpc>
                <a:spcPts val="3919"/>
              </a:lnSpc>
            </a:pPr>
            <a:endParaRPr lang="en-US" sz="2799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323849" lvl="1" algn="l">
              <a:lnSpc>
                <a:spcPts val="4199"/>
              </a:lnSpc>
            </a:pPr>
            <a:endParaRPr lang="en-US" sz="2999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4199"/>
              </a:lnSpc>
            </a:pPr>
            <a:endParaRPr lang="en-US" sz="2999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BC284C-0057-6552-0CC6-790981C95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43B69EB-D515-1110-D47D-36CD23FCD00F}"/>
              </a:ext>
            </a:extLst>
          </p:cNvPr>
          <p:cNvSpPr/>
          <p:nvPr/>
        </p:nvSpPr>
        <p:spPr>
          <a:xfrm>
            <a:off x="-2057400" y="-12589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CE67101-D033-69AB-B6BE-889D805FB3CD}"/>
              </a:ext>
            </a:extLst>
          </p:cNvPr>
          <p:cNvSpPr/>
          <p:nvPr/>
        </p:nvSpPr>
        <p:spPr>
          <a:xfrm>
            <a:off x="-1702233" y="-903796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FBD9079-3B57-4413-CF4E-404CCB99677F}"/>
              </a:ext>
            </a:extLst>
          </p:cNvPr>
          <p:cNvSpPr/>
          <p:nvPr/>
        </p:nvSpPr>
        <p:spPr>
          <a:xfrm>
            <a:off x="16230600" y="72009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D3E65302-A95B-F85E-CA5A-EBF1F27F644C}"/>
              </a:ext>
            </a:extLst>
          </p:cNvPr>
          <p:cNvSpPr/>
          <p:nvPr/>
        </p:nvSpPr>
        <p:spPr>
          <a:xfrm>
            <a:off x="16585767" y="7556067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82BB4BD9-F89B-9683-3730-6BC1FA4AF568}"/>
              </a:ext>
            </a:extLst>
          </p:cNvPr>
          <p:cNvGrpSpPr/>
          <p:nvPr/>
        </p:nvGrpSpPr>
        <p:grpSpPr>
          <a:xfrm>
            <a:off x="12319137" y="9258300"/>
            <a:ext cx="3911463" cy="3911463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FD83EAC-2E54-56F7-97E8-14492E9E077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E2ABCCB-B634-BEED-E07B-43BAEF234D9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FABB8817-D355-B873-557E-F4F7D1000BEC}"/>
              </a:ext>
            </a:extLst>
          </p:cNvPr>
          <p:cNvSpPr/>
          <p:nvPr/>
        </p:nvSpPr>
        <p:spPr>
          <a:xfrm>
            <a:off x="16998733" y="7969033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80CDB0BF-5467-C377-5DB1-C2F7A4318A94}"/>
              </a:ext>
            </a:extLst>
          </p:cNvPr>
          <p:cNvSpPr/>
          <p:nvPr/>
        </p:nvSpPr>
        <p:spPr>
          <a:xfrm>
            <a:off x="-1289267" y="-490830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448F713B-C25E-F49D-A32C-4AB2AE5EE092}"/>
              </a:ext>
            </a:extLst>
          </p:cNvPr>
          <p:cNvGrpSpPr/>
          <p:nvPr/>
        </p:nvGrpSpPr>
        <p:grpSpPr>
          <a:xfrm>
            <a:off x="2129385" y="-2859528"/>
            <a:ext cx="3911463" cy="3911463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614BE3C1-E53B-67FB-B069-4F2AFEA687D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EB62D6F9-530F-8098-965D-EC8873546C4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84C77C6A-8593-8C77-D9AE-689CB597E219}"/>
              </a:ext>
            </a:extLst>
          </p:cNvPr>
          <p:cNvSpPr txBox="1"/>
          <p:nvPr/>
        </p:nvSpPr>
        <p:spPr>
          <a:xfrm>
            <a:off x="2294129" y="1256503"/>
            <a:ext cx="13699742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DATASET &amp; ASSETS USED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CBF00DFF-FCAA-06D8-FFD6-0610EF5CF849}"/>
              </a:ext>
            </a:extLst>
          </p:cNvPr>
          <p:cNvSpPr txBox="1"/>
          <p:nvPr/>
        </p:nvSpPr>
        <p:spPr>
          <a:xfrm>
            <a:off x="114401" y="3525303"/>
            <a:ext cx="8817181" cy="4984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Downloaded the dataset from yahoo finance </a:t>
            </a:r>
          </a:p>
          <a:p>
            <a:pPr marL="302259" lvl="1" algn="just">
              <a:lnSpc>
                <a:spcPts val="3919"/>
              </a:lnSpc>
            </a:pPr>
            <a:endParaRPr lang="en-US" sz="2799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Assets: SPY, AAPL, MSFT, JPM, XOM, JNJ.</a:t>
            </a:r>
          </a:p>
          <a:p>
            <a:pPr algn="just">
              <a:lnSpc>
                <a:spcPts val="3919"/>
              </a:lnSpc>
            </a:pPr>
            <a:endParaRPr lang="en-US" sz="2799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Includes Bull Market, COVID Crash (2020) and Recovery period.</a:t>
            </a:r>
          </a:p>
          <a:p>
            <a:pPr marL="302259" lvl="1" algn="just">
              <a:lnSpc>
                <a:spcPts val="3919"/>
              </a:lnSpc>
            </a:pPr>
            <a:endParaRPr lang="en-US" sz="2799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just">
              <a:lnSpc>
                <a:spcPts val="3919"/>
              </a:lnSpc>
            </a:pPr>
            <a:endParaRPr lang="en-US" sz="2799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302259" lvl="1" algn="just">
              <a:lnSpc>
                <a:spcPts val="3919"/>
              </a:lnSpc>
            </a:pPr>
            <a:endParaRPr lang="en-US" sz="2799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just">
              <a:lnSpc>
                <a:spcPts val="3919"/>
              </a:lnSpc>
            </a:pPr>
            <a:endParaRPr lang="en-US" sz="2799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3451677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57400" y="-12589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702233" y="-903796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230600" y="72009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6585767" y="7556067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2319137" y="9258300"/>
            <a:ext cx="3911463" cy="391146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998733" y="7969033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-1289267" y="-490830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2129385" y="-2859528"/>
            <a:ext cx="3911463" cy="3911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0" y="3266062"/>
            <a:ext cx="11301259" cy="4746529"/>
          </a:xfrm>
          <a:custGeom>
            <a:avLst/>
            <a:gdLst/>
            <a:ahLst/>
            <a:cxnLst/>
            <a:rect l="l" t="t" r="r" b="b"/>
            <a:pathLst>
              <a:path w="11301259" h="4746529">
                <a:moveTo>
                  <a:pt x="0" y="0"/>
                </a:moveTo>
                <a:lnTo>
                  <a:pt x="11301259" y="0"/>
                </a:lnTo>
                <a:lnTo>
                  <a:pt x="11301259" y="4746529"/>
                </a:lnTo>
                <a:lnTo>
                  <a:pt x="0" y="474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1936808" y="1268554"/>
            <a:ext cx="16031729" cy="1142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CLEANING THE DATA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397460" y="3607637"/>
            <a:ext cx="6571078" cy="3483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Make sure all stocks had matching dates to ensure all the dates are aligned properly 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Removed missing or incorrect entries.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Normalized the price to understand which assert has highest market cap </a:t>
            </a:r>
          </a:p>
          <a:p>
            <a:pPr algn="l">
              <a:lnSpc>
                <a:spcPts val="3919"/>
              </a:lnSpc>
            </a:pPr>
            <a:endParaRPr lang="en-US" sz="2799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57400" y="-12589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702233" y="-903796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230600" y="72009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6585767" y="7556067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2319137" y="9258300"/>
            <a:ext cx="3911463" cy="391146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998733" y="7969033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-1289267" y="-490830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2129385" y="-2859528"/>
            <a:ext cx="3911463" cy="3911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936808" y="1268554"/>
            <a:ext cx="16031729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FEATURE ENGINEERING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02232" y="3607637"/>
            <a:ext cx="15061767" cy="19832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19" lvl="1" indent="-302260">
              <a:lnSpc>
                <a:spcPts val="3919"/>
              </a:lnSpc>
              <a:buFont typeface="Arial"/>
              <a:buChar char="•"/>
            </a:pPr>
            <a:r>
              <a:rPr lang="en-US" sz="2800" dirty="0"/>
              <a:t>I developed 27 features from raw OHLCV data including momentum, trend, volatility, and volume indicators . </a:t>
            </a:r>
          </a:p>
          <a:p>
            <a:pPr marL="604519" lvl="1" indent="-302260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These features help the AI to understand market mood.</a:t>
            </a:r>
          </a:p>
          <a:p>
            <a:pPr algn="l">
              <a:lnSpc>
                <a:spcPts val="3919"/>
              </a:lnSpc>
            </a:pPr>
            <a:endParaRPr lang="en-US" sz="2799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57400" y="-12589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702233" y="-903796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230600" y="72009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6585767" y="7556067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2319137" y="9258300"/>
            <a:ext cx="3911463" cy="391146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998733" y="7969033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-1289267" y="-490830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2129385" y="-2859528"/>
            <a:ext cx="3911463" cy="3911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941865" y="1151296"/>
            <a:ext cx="16375647" cy="1142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TRADING ENVIRONMENT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06613" y="3365066"/>
            <a:ext cx="12975362" cy="5514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30206" lvl="1" indent="-415103" algn="l">
              <a:lnSpc>
                <a:spcPts val="5383"/>
              </a:lnSpc>
              <a:buFont typeface="Arial"/>
              <a:buChar char="•"/>
            </a:pPr>
            <a:r>
              <a:rPr lang="en-US" sz="3845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Created a virtual stock market environment.</a:t>
            </a:r>
          </a:p>
          <a:p>
            <a:pPr marL="830206" lvl="1" indent="-415103" algn="l">
              <a:lnSpc>
                <a:spcPts val="5383"/>
              </a:lnSpc>
              <a:buFont typeface="Arial"/>
              <a:buChar char="•"/>
            </a:pPr>
            <a:r>
              <a:rPr lang="en-US" sz="3845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Starting money: $10,000.</a:t>
            </a:r>
          </a:p>
          <a:p>
            <a:pPr marL="830206" lvl="1" indent="-415103" algn="l">
              <a:lnSpc>
                <a:spcPts val="5383"/>
              </a:lnSpc>
              <a:buFont typeface="Arial"/>
              <a:buChar char="•"/>
            </a:pPr>
            <a:r>
              <a:rPr lang="en-US" sz="3845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The AI could: Buy, Sell or Hold.</a:t>
            </a:r>
          </a:p>
          <a:p>
            <a:pPr marL="830206" lvl="1" indent="-415103" algn="l">
              <a:lnSpc>
                <a:spcPts val="5383"/>
              </a:lnSpc>
              <a:buFont typeface="Arial"/>
              <a:buChar char="•"/>
            </a:pPr>
            <a:r>
              <a:rPr lang="en-US" sz="3845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Each trade had a small fee (0.1%) like real markets.</a:t>
            </a:r>
          </a:p>
          <a:p>
            <a:pPr marL="830206" lvl="1" indent="-415103" algn="l">
              <a:lnSpc>
                <a:spcPts val="5383"/>
              </a:lnSpc>
              <a:buFont typeface="Arial"/>
              <a:buChar char="•"/>
            </a:pPr>
            <a:r>
              <a:rPr lang="en-US" sz="3845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If portfolio value increases → reward.</a:t>
            </a:r>
          </a:p>
          <a:p>
            <a:pPr marL="830206" lvl="1" indent="-415103" algn="l">
              <a:lnSpc>
                <a:spcPts val="5383"/>
              </a:lnSpc>
              <a:buFont typeface="Arial"/>
              <a:buChar char="•"/>
            </a:pPr>
            <a:r>
              <a:rPr lang="en-US" sz="3845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If it loses money → penalty.</a:t>
            </a:r>
          </a:p>
          <a:p>
            <a:pPr marL="830206" lvl="1" indent="-415103" algn="l">
              <a:lnSpc>
                <a:spcPts val="5383"/>
              </a:lnSpc>
              <a:buFont typeface="Arial"/>
              <a:buChar char="•"/>
            </a:pPr>
            <a:r>
              <a:rPr lang="en-US" sz="3845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Over time, it learns which actions work best.</a:t>
            </a:r>
          </a:p>
          <a:p>
            <a:pPr algn="l">
              <a:lnSpc>
                <a:spcPts val="5383"/>
              </a:lnSpc>
            </a:pPr>
            <a:endParaRPr lang="en-US" sz="3845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57400" y="-12589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702233" y="-903796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230600" y="72009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6585767" y="7556067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2319137" y="9258300"/>
            <a:ext cx="3911463" cy="391146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998733" y="7969033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-1289267" y="-490830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2129385" y="-2859528"/>
            <a:ext cx="3911463" cy="3911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6818958" y="3255902"/>
            <a:ext cx="11301259" cy="5099693"/>
          </a:xfrm>
          <a:custGeom>
            <a:avLst/>
            <a:gdLst/>
            <a:ahLst/>
            <a:cxnLst/>
            <a:rect l="l" t="t" r="r" b="b"/>
            <a:pathLst>
              <a:path w="11301259" h="5099693">
                <a:moveTo>
                  <a:pt x="0" y="0"/>
                </a:moveTo>
                <a:lnTo>
                  <a:pt x="11301259" y="0"/>
                </a:lnTo>
                <a:lnTo>
                  <a:pt x="11301259" y="5099693"/>
                </a:lnTo>
                <a:lnTo>
                  <a:pt x="0" y="50996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1881532" y="1446889"/>
            <a:ext cx="16406468" cy="1142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TESTING STRATEGY FINDINGS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05965" y="3119699"/>
            <a:ext cx="5999177" cy="5905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Before AI,  tested normal strategies: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Buy &amp; Hold - good money but suffers during crashes.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Moving Average strategy - reduces crash damage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RSI and MACD strategies suffering sudden crashes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Random trading - loses money due to fees.</a:t>
            </a: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57400" y="-12589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702233" y="-903796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230600" y="72009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6585767" y="7556067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2319137" y="9258300"/>
            <a:ext cx="3911463" cy="391146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998733" y="7969033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-1289267" y="-490830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2129385" y="-2859528"/>
            <a:ext cx="3911463" cy="3911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437027" y="2855837"/>
            <a:ext cx="7287077" cy="5685380"/>
          </a:xfrm>
          <a:custGeom>
            <a:avLst/>
            <a:gdLst/>
            <a:ahLst/>
            <a:cxnLst/>
            <a:rect l="l" t="t" r="r" b="b"/>
            <a:pathLst>
              <a:path w="9636238" h="5685380">
                <a:moveTo>
                  <a:pt x="0" y="0"/>
                </a:moveTo>
                <a:lnTo>
                  <a:pt x="9636238" y="0"/>
                </a:lnTo>
                <a:lnTo>
                  <a:pt x="9636238" y="5685380"/>
                </a:lnTo>
                <a:lnTo>
                  <a:pt x="0" y="56853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2057400" y="895350"/>
            <a:ext cx="16031729" cy="1142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MODEL BUILDING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534400" y="3636537"/>
            <a:ext cx="8937419" cy="84080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Trained 6 different AI models.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Simple DQN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Dropout DQN 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Residual DQN 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Dueling DQN 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LSTM DQN 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Attention DQN </a:t>
            </a:r>
          </a:p>
          <a:p>
            <a:pPr marL="788600" lvl="1" indent="-394300">
              <a:lnSpc>
                <a:spcPts val="5113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At first, the model acted randomly having more loses</a:t>
            </a:r>
          </a:p>
          <a:p>
            <a:pPr marL="788600" lvl="1" indent="-394300">
              <a:lnSpc>
                <a:spcPts val="5113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Slowly it started finding better buy/sell timing.</a:t>
            </a:r>
          </a:p>
          <a:p>
            <a:pPr marL="788600" lvl="1" indent="-394300">
              <a:lnSpc>
                <a:spcPts val="5113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Simple DQN ,and Residual DQN models performed well in training.</a:t>
            </a:r>
          </a:p>
          <a:p>
            <a:pPr marL="394300" lvl="1">
              <a:lnSpc>
                <a:spcPts val="5113"/>
              </a:lnSpc>
            </a:pPr>
            <a:endParaRPr lang="en-US" sz="2800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endParaRPr lang="en-US" sz="2799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3919"/>
              </a:lnSpc>
            </a:pPr>
            <a:endParaRPr lang="en-US" sz="2799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57400" y="-12589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702233" y="-903796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230600" y="72009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6585767" y="7556067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2319137" y="9258300"/>
            <a:ext cx="3911463" cy="391146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998733" y="7969033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-1289267" y="-490830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2129385" y="-2859528"/>
            <a:ext cx="3911463" cy="3911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028700" y="2910002"/>
            <a:ext cx="9652688" cy="5683020"/>
          </a:xfrm>
          <a:custGeom>
            <a:avLst/>
            <a:gdLst/>
            <a:ahLst/>
            <a:cxnLst/>
            <a:rect l="l" t="t" r="r" b="b"/>
            <a:pathLst>
              <a:path w="9652688" h="5683020">
                <a:moveTo>
                  <a:pt x="0" y="0"/>
                </a:moveTo>
                <a:lnTo>
                  <a:pt x="9652688" y="0"/>
                </a:lnTo>
                <a:lnTo>
                  <a:pt x="9652688" y="5683020"/>
                </a:lnTo>
                <a:lnTo>
                  <a:pt x="0" y="5683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2057400" y="895350"/>
            <a:ext cx="16031729" cy="1142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 ENSEMBLE TRAINING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61326" y="4244022"/>
            <a:ext cx="7229300" cy="2983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09039" lvl="2" indent="-403013" algn="l">
              <a:lnSpc>
                <a:spcPts val="3919"/>
              </a:lnSpc>
              <a:buFont typeface="Arial"/>
              <a:buChar char="⚬"/>
            </a:pPr>
            <a:r>
              <a:rPr lang="en-US" sz="2799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Hard Voting: Majority decision wins </a:t>
            </a:r>
          </a:p>
          <a:p>
            <a:pPr marL="1209039" lvl="2" indent="-403013">
              <a:lnSpc>
                <a:spcPts val="3919"/>
              </a:lnSpc>
              <a:buFont typeface="Arial"/>
              <a:buChar char="⚬"/>
            </a:pPr>
            <a:r>
              <a:rPr lang="en-US" sz="2800" dirty="0">
                <a:latin typeface="Nunito" pitchFamily="2" charset="0"/>
                <a:cs typeface="Narkisim" panose="020F0502020204030204" pitchFamily="34" charset="-79"/>
              </a:rPr>
              <a:t>Soft Voting : Averages model confidence scores</a:t>
            </a:r>
            <a:endParaRPr lang="en-US" sz="2799" dirty="0">
              <a:solidFill>
                <a:srgbClr val="000000"/>
              </a:solidFill>
              <a:latin typeface="Nunito" pitchFamily="2" charset="0"/>
              <a:ea typeface="Nunito"/>
              <a:cs typeface="Narkisim" panose="020F0502020204030204" pitchFamily="34" charset="-79"/>
              <a:sym typeface="Nunito"/>
            </a:endParaRPr>
          </a:p>
          <a:p>
            <a:pPr marL="1209039" lvl="2" indent="-403013" algn="l">
              <a:lnSpc>
                <a:spcPts val="3919"/>
              </a:lnSpc>
              <a:buFont typeface="Arial"/>
              <a:buChar char="⚬"/>
            </a:pPr>
            <a:r>
              <a:rPr lang="en-US" sz="2799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Stacking: Another model decides which to trust.</a:t>
            </a:r>
          </a:p>
          <a:p>
            <a:pPr algn="l">
              <a:lnSpc>
                <a:spcPts val="3919"/>
              </a:lnSpc>
            </a:pPr>
            <a:endParaRPr lang="en-US" sz="2799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57400" y="-12589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702233" y="-903796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230600" y="72009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6585767" y="7556067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2319137" y="9258300"/>
            <a:ext cx="3911463" cy="391146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998733" y="7969033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-1289267" y="-490830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2129385" y="-2859528"/>
            <a:ext cx="3911463" cy="3911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747539" y="3033862"/>
            <a:ext cx="9719039" cy="4167038"/>
          </a:xfrm>
          <a:custGeom>
            <a:avLst/>
            <a:gdLst/>
            <a:ahLst/>
            <a:cxnLst/>
            <a:rect l="l" t="t" r="r" b="b"/>
            <a:pathLst>
              <a:path w="9719039" h="4167038">
                <a:moveTo>
                  <a:pt x="0" y="0"/>
                </a:moveTo>
                <a:lnTo>
                  <a:pt x="9719038" y="0"/>
                </a:lnTo>
                <a:lnTo>
                  <a:pt x="9719038" y="4167038"/>
                </a:lnTo>
                <a:lnTo>
                  <a:pt x="0" y="41670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2129385" y="895350"/>
            <a:ext cx="15959745" cy="1142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HYPERPARAMETER TUNING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907122" y="2534703"/>
            <a:ext cx="7182007" cy="4981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Hyperparameter tuning performed on Simple DQN Model by adjusting learning rate 0.001 to 0.0001 , epsilon delay and batch size</a:t>
            </a:r>
          </a:p>
          <a:p>
            <a:pPr algn="l">
              <a:lnSpc>
                <a:spcPts val="3919"/>
              </a:lnSpc>
            </a:pPr>
            <a:endParaRPr lang="en-US" sz="2799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Training Value improved:</a:t>
            </a:r>
          </a:p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$18,010 → $21,347.</a:t>
            </a:r>
          </a:p>
          <a:p>
            <a:pPr algn="l">
              <a:lnSpc>
                <a:spcPts val="3919"/>
              </a:lnSpc>
            </a:pPr>
            <a:endParaRPr lang="en-US" sz="2799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Validation improved:</a:t>
            </a:r>
          </a:p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$11,277 → $12,641 (+12%).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57400" y="-12589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702233" y="-903796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818858" y="1643684"/>
            <a:ext cx="12913617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ENSEMBLE OPTIMIZATION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9600" y="3486383"/>
            <a:ext cx="16195178" cy="3701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09579" lvl="1" indent="-454790">
              <a:lnSpc>
                <a:spcPts val="5898"/>
              </a:lnSpc>
              <a:buFont typeface="Arial"/>
              <a:buChar char="•"/>
            </a:pPr>
            <a:r>
              <a:rPr lang="en-US" sz="2800" dirty="0">
                <a:latin typeface="Nunito" pitchFamily="2" charset="0"/>
              </a:rPr>
              <a:t>In ensemble optimization  I weighted top-2 ensemble I selected   </a:t>
            </a:r>
            <a:r>
              <a:rPr lang="en-US" sz="2800" b="1" dirty="0">
                <a:latin typeface="Nunito" pitchFamily="2" charset="0"/>
              </a:rPr>
              <a:t>Simple DQN and Dropout DQN </a:t>
            </a:r>
            <a:r>
              <a:rPr lang="en-US" sz="2800" dirty="0">
                <a:latin typeface="Nunito" pitchFamily="2" charset="0"/>
              </a:rPr>
              <a:t>based on validation portfolio performance. Their Q-values were combined using weighted averaging, where the stronger model was given a higher weight. The final action was selected using the highest combined Q-value, and this ensemble strategy improved the validation portfolio value to </a:t>
            </a:r>
            <a:r>
              <a:rPr lang="en-US" sz="2800" b="1" dirty="0">
                <a:latin typeface="Nunito" pitchFamily="2" charset="0"/>
              </a:rPr>
              <a:t>$12,589</a:t>
            </a:r>
            <a:r>
              <a:rPr lang="en-US" sz="2800" dirty="0">
                <a:latin typeface="Nunito" pitchFamily="2" charset="0"/>
              </a:rPr>
              <a:t>, outperforming individual models</a:t>
            </a:r>
            <a:endParaRPr lang="en-US" sz="2800" dirty="0">
              <a:solidFill>
                <a:srgbClr val="000000"/>
              </a:solidFill>
              <a:latin typeface="Nunito" pitchFamily="2" charset="0"/>
              <a:ea typeface="Nunito"/>
              <a:cs typeface="Nunito"/>
              <a:sym typeface="Nunito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6230600" y="72009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6585767" y="7556067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12319137" y="9258300"/>
            <a:ext cx="3911463" cy="391146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6998733" y="7969033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-1289267" y="-490830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2129385" y="-2859528"/>
            <a:ext cx="3911463" cy="3911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57400" y="-12589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702233" y="-903796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230600" y="72009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6585767" y="7556067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2319137" y="9258300"/>
            <a:ext cx="3911463" cy="391146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998733" y="7969033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-1289267" y="-490830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2129385" y="-2859528"/>
            <a:ext cx="3911463" cy="3911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348111" y="1954354"/>
            <a:ext cx="9558507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CONCLUSION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06355" y="3638103"/>
            <a:ext cx="16200525" cy="2491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6925" lvl="1" indent="-378462" algn="l">
              <a:lnSpc>
                <a:spcPts val="4908"/>
              </a:lnSpc>
              <a:buFont typeface="Arial"/>
              <a:buChar char="•"/>
            </a:pPr>
            <a:r>
              <a:rPr lang="en-US" sz="3505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Successfully built an intelligent trading system.</a:t>
            </a:r>
          </a:p>
          <a:p>
            <a:pPr marL="756925" lvl="1" indent="-378462" algn="l">
              <a:lnSpc>
                <a:spcPts val="4908"/>
              </a:lnSpc>
              <a:buFont typeface="Arial"/>
              <a:buChar char="•"/>
            </a:pPr>
            <a:r>
              <a:rPr lang="en-US" sz="3505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Hyperparameter tuning gave biggest improvement.</a:t>
            </a:r>
          </a:p>
          <a:p>
            <a:pPr marL="756925" lvl="1" indent="-378462" algn="l">
              <a:lnSpc>
                <a:spcPts val="4908"/>
              </a:lnSpc>
              <a:buFont typeface="Arial"/>
              <a:buChar char="•"/>
            </a:pPr>
            <a:r>
              <a:rPr lang="en-US" sz="3505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Best result achieved using a weighted AI combination.</a:t>
            </a:r>
          </a:p>
          <a:p>
            <a:pPr marL="756925" lvl="1" indent="-378462" algn="l">
              <a:lnSpc>
                <a:spcPts val="4908"/>
              </a:lnSpc>
              <a:buFont typeface="Arial"/>
              <a:buChar char="•"/>
            </a:pPr>
            <a:r>
              <a:rPr lang="en-US" sz="3505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The project proves AI can learn disciplined trading behavior.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57400" y="-12589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702233" y="-903796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230600" y="72009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6585767" y="7556067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2319137" y="9258300"/>
            <a:ext cx="3911463" cy="391146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998733" y="7969033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-1289267" y="-490830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2129385" y="-2859528"/>
            <a:ext cx="3911463" cy="3911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013131" y="3908425"/>
            <a:ext cx="10261737" cy="2222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9"/>
              </a:lnSpc>
            </a:pPr>
            <a:r>
              <a:rPr lang="en-US" sz="12999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3890</TotalTime>
  <Words>502</Words>
  <Application>Microsoft Office PowerPoint</Application>
  <PresentationFormat>Custom</PresentationFormat>
  <Paragraphs>72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Proxima Nova Bold</vt:lpstr>
      <vt:lpstr>Nunito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EquityTrading</dc:title>
  <dc:creator>Ashok</dc:creator>
  <cp:lastModifiedBy>Ashu J</cp:lastModifiedBy>
  <cp:revision>2</cp:revision>
  <dcterms:created xsi:type="dcterms:W3CDTF">2006-08-16T00:00:00Z</dcterms:created>
  <dcterms:modified xsi:type="dcterms:W3CDTF">2026-03-09T04:27:02Z</dcterms:modified>
  <dc:identifier>DAHCVcjwsZU</dc:identifier>
</cp:coreProperties>
</file>